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8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2/14/2026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2F58D-C909-EB20-72BF-643C0A93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4A5A196F-E1F9-586E-1914-F790B4E5CC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FEDD71DF-BBD6-5EED-A3F4-1FA4D8072E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1FF19B28-DE77-D7BE-26A6-2A07FDEB6D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651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TALENTINE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7772" y="2116992"/>
            <a:ext cx="11834228" cy="24706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Challenge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Category-</a:t>
            </a:r>
            <a:r>
              <a:rPr lang="en-IN" sz="2400" dirty="0"/>
              <a:t> </a:t>
            </a:r>
            <a:r>
              <a:rPr lang="en-IN" sz="2000" dirty="0"/>
              <a:t>Artificial Intelligence / Productivity / SaaS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Synaptrix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A32C7F-11B9-CED5-5C52-100E37BE43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002" y="-260931"/>
            <a:ext cx="2592198" cy="20135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D1A2B5-C1CA-3138-69A5-F248E3E14FE7}"/>
              </a:ext>
            </a:extLst>
          </p:cNvPr>
          <p:cNvSpPr txBox="1"/>
          <p:nvPr/>
        </p:nvSpPr>
        <p:spPr>
          <a:xfrm>
            <a:off x="4621162" y="2703354"/>
            <a:ext cx="72660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/>
              <a:t>Enhancing Professional Digital Communication Using Artificial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43345" y="-324052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B4800-1624-5475-55FC-74FD0549EE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002" y="-350853"/>
            <a:ext cx="2592198" cy="201353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3E49F86-78AE-76B7-494B-A1E962346F3F}"/>
              </a:ext>
            </a:extLst>
          </p:cNvPr>
          <p:cNvSpPr txBox="1"/>
          <p:nvPr/>
        </p:nvSpPr>
        <p:spPr>
          <a:xfrm>
            <a:off x="0" y="1035650"/>
            <a:ext cx="1077190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0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205742-AE17-B8EA-AA92-1A7E0C6A5A85}"/>
              </a:ext>
            </a:extLst>
          </p:cNvPr>
          <p:cNvSpPr txBox="1"/>
          <p:nvPr/>
        </p:nvSpPr>
        <p:spPr>
          <a:xfrm>
            <a:off x="247044" y="4081447"/>
            <a:ext cx="689437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The Solution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AI-based system that converts rough text into professionally structured emails.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enhances tone, clarity, and formatting.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Generates complete email with subject, greeting, body, and closing.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Provides customizable tone options based on user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fast, accurate, and user-friendly communication support.</a:t>
            </a: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DDFFA0-6F15-15E1-4A74-98B666139EB6}"/>
              </a:ext>
            </a:extLst>
          </p:cNvPr>
          <p:cNvSpPr txBox="1"/>
          <p:nvPr/>
        </p:nvSpPr>
        <p:spPr>
          <a:xfrm>
            <a:off x="6946929" y="1800619"/>
            <a:ext cx="499802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Makes It Unique:</a:t>
            </a:r>
          </a:p>
          <a:p>
            <a:r>
              <a:rPr lang="en-IN" dirty="0"/>
              <a:t>Complete email transformation, not just grammar fixing</a:t>
            </a:r>
          </a:p>
          <a:p>
            <a:r>
              <a:rPr lang="en-IN" dirty="0"/>
              <a:t>Context and intent-based rewriting</a:t>
            </a:r>
          </a:p>
          <a:p>
            <a:r>
              <a:rPr lang="en-IN" dirty="0"/>
              <a:t>Automatic subject line generation</a:t>
            </a:r>
          </a:p>
          <a:p>
            <a:r>
              <a:rPr lang="en-IN" dirty="0"/>
              <a:t>Multiple tone customization options</a:t>
            </a:r>
          </a:p>
          <a:p>
            <a:r>
              <a:rPr lang="en-IN" dirty="0"/>
              <a:t>Real-time AI-powered response</a:t>
            </a:r>
          </a:p>
          <a:p>
            <a:r>
              <a:rPr lang="en-IN" dirty="0"/>
              <a:t>Split-screen “Before vs After” comparison</a:t>
            </a:r>
          </a:p>
          <a:p>
            <a:r>
              <a:rPr lang="en-IN" dirty="0"/>
              <a:t>Clean, minimal, user-friendly design</a:t>
            </a:r>
          </a:p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43A3E4-9BF8-E137-4D02-9F7C08FC2FA4}"/>
              </a:ext>
            </a:extLst>
          </p:cNvPr>
          <p:cNvSpPr txBox="1"/>
          <p:nvPr/>
        </p:nvSpPr>
        <p:spPr>
          <a:xfrm>
            <a:off x="149926" y="1516626"/>
            <a:ext cx="59665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The problem (Why This Matters):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Email is a key part of professional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students and employees struggle with proper tone and structure.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Messages written in hurry often sound rude or unclear.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Poor emails can cause misunderstandings and damage relationships.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Existing tools focus only on grammar, not full email transformation.</a:t>
            </a:r>
          </a:p>
          <a:p>
            <a:endParaRPr lang="en-US" dirty="0"/>
          </a:p>
        </p:txBody>
      </p:sp>
      <p:sp>
        <p:nvSpPr>
          <p:cNvPr id="23" name="Oval 22" descr="Your startup LOGO">
            <a:extLst>
              <a:ext uri="{FF2B5EF4-FFF2-40B4-BE49-F238E27FC236}">
                <a16:creationId xmlns:a16="http://schemas.microsoft.com/office/drawing/2014/main" id="{DD66E486-2118-63EB-9958-393F5BC756C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4355" y="84413"/>
            <a:ext cx="16694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SYNAPTIX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-402771" y="-8342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4355" y="84413"/>
            <a:ext cx="166947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SYNAPTIX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22612F-DD55-B53E-7CBA-913B801A60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605" y="-384453"/>
            <a:ext cx="2592198" cy="2013532"/>
          </a:xfrm>
          <a:prstGeom prst="rect">
            <a:avLst/>
          </a:prstGeom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961116-9690-1D06-91BF-F61CC9FD2F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4435696"/>
              </p:ext>
            </p:extLst>
          </p:nvPr>
        </p:nvGraphicFramePr>
        <p:xfrm>
          <a:off x="204355" y="1030959"/>
          <a:ext cx="6341919" cy="5029200"/>
        </p:xfrm>
        <a:graphic>
          <a:graphicData uri="http://schemas.openxmlformats.org/drawingml/2006/table">
            <a:tbl>
              <a:tblPr/>
              <a:tblGrid>
                <a:gridCol w="2113973">
                  <a:extLst>
                    <a:ext uri="{9D8B030D-6E8A-4147-A177-3AD203B41FA5}">
                      <a16:colId xmlns:a16="http://schemas.microsoft.com/office/drawing/2014/main" val="1597154086"/>
                    </a:ext>
                  </a:extLst>
                </a:gridCol>
                <a:gridCol w="2113973">
                  <a:extLst>
                    <a:ext uri="{9D8B030D-6E8A-4147-A177-3AD203B41FA5}">
                      <a16:colId xmlns:a16="http://schemas.microsoft.com/office/drawing/2014/main" val="1147524368"/>
                    </a:ext>
                  </a:extLst>
                </a:gridCol>
                <a:gridCol w="2113973">
                  <a:extLst>
                    <a:ext uri="{9D8B030D-6E8A-4147-A177-3AD203B41FA5}">
                      <a16:colId xmlns:a16="http://schemas.microsoft.com/office/drawing/2014/main" val="209591414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 / 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Role in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3193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Presentation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React / HTML / CSS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split-screen UI for input and output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7375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Application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FastAPI (Python)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Processes requests and manages AI interaction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298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AI Processing 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Language Model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Understands context and rewrites email professionally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55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RESTful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Secure data transfer between frontend and backend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34240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Vercel (Frontend) / Render (Backend)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Cloud hosting and scalability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4655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985217"/>
                  </a:ext>
                </a:extLst>
              </a:tr>
            </a:tbl>
          </a:graphicData>
        </a:graphic>
      </p:graphicFrame>
      <p:sp>
        <p:nvSpPr>
          <p:cNvPr id="7" name="AutoShape 2" descr="Web Application Architecture [+ Free Example Diagram]">
            <a:extLst>
              <a:ext uri="{FF2B5EF4-FFF2-40B4-BE49-F238E27FC236}">
                <a16:creationId xmlns:a16="http://schemas.microsoft.com/office/drawing/2014/main" id="{94EDCE5C-461E-3267-8907-07865ED9F9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-793173"/>
            <a:ext cx="4374573" cy="4374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8" name="AutoShape 4" descr="Web Application Architecture [+ Free Example Diagram]">
            <a:extLst>
              <a:ext uri="{FF2B5EF4-FFF2-40B4-BE49-F238E27FC236}">
                <a16:creationId xmlns:a16="http://schemas.microsoft.com/office/drawing/2014/main" id="{D92774E9-97C9-90D6-0D43-766C1911D2A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406236"/>
            <a:ext cx="4987636" cy="4987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95B89AD-E844-AC6D-1D39-297CE0BC9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2300" y="1151642"/>
            <a:ext cx="5088081" cy="27307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1B7F386-CCF1-FE46-B402-75FECAB9C0DC}"/>
              </a:ext>
            </a:extLst>
          </p:cNvPr>
          <p:cNvSpPr txBox="1"/>
          <p:nvPr/>
        </p:nvSpPr>
        <p:spPr>
          <a:xfrm>
            <a:off x="8601241" y="3832942"/>
            <a:ext cx="230401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User Input</a:t>
            </a:r>
          </a:p>
          <a:p>
            <a:r>
              <a:rPr lang="en-IN" b="1" dirty="0"/>
              <a:t>     ↓</a:t>
            </a:r>
          </a:p>
          <a:p>
            <a:r>
              <a:rPr lang="en-IN" b="1" dirty="0"/>
              <a:t>Backend Server</a:t>
            </a:r>
          </a:p>
          <a:p>
            <a:r>
              <a:rPr lang="en-IN" b="1" dirty="0"/>
              <a:t>     ↓</a:t>
            </a:r>
          </a:p>
          <a:p>
            <a:r>
              <a:rPr lang="en-IN" b="1" dirty="0"/>
              <a:t>AI Processing</a:t>
            </a:r>
          </a:p>
          <a:p>
            <a:r>
              <a:rPr lang="en-IN" b="1" dirty="0"/>
              <a:t>     ↓</a:t>
            </a:r>
          </a:p>
          <a:p>
            <a:r>
              <a:rPr lang="en-IN" b="1" dirty="0"/>
              <a:t>Structured Email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687286" y="121554"/>
            <a:ext cx="6498771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73801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SYNAPTRIX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B4DB2-5DB3-761B-D85A-557E25708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002" y="-260931"/>
            <a:ext cx="2592198" cy="2013532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638C0F-2FF6-270C-C7D4-11BFFC020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9345220"/>
              </p:ext>
            </p:extLst>
          </p:nvPr>
        </p:nvGraphicFramePr>
        <p:xfrm>
          <a:off x="121227" y="955964"/>
          <a:ext cx="4513118" cy="979386"/>
        </p:xfrm>
        <a:graphic>
          <a:graphicData uri="http://schemas.openxmlformats.org/drawingml/2006/table">
            <a:tbl>
              <a:tblPr/>
              <a:tblGrid>
                <a:gridCol w="2256559">
                  <a:extLst>
                    <a:ext uri="{9D8B030D-6E8A-4147-A177-3AD203B41FA5}">
                      <a16:colId xmlns:a16="http://schemas.microsoft.com/office/drawing/2014/main" val="2690894722"/>
                    </a:ext>
                  </a:extLst>
                </a:gridCol>
                <a:gridCol w="2256559">
                  <a:extLst>
                    <a:ext uri="{9D8B030D-6E8A-4147-A177-3AD203B41FA5}">
                      <a16:colId xmlns:a16="http://schemas.microsoft.com/office/drawing/2014/main" val="1486586245"/>
                    </a:ext>
                  </a:extLst>
                </a:gridCol>
              </a:tblGrid>
              <a:tr h="97938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00383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568EAC1-8644-7603-F283-045EADD00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8849636"/>
              </p:ext>
            </p:extLst>
          </p:nvPr>
        </p:nvGraphicFramePr>
        <p:xfrm>
          <a:off x="6411191" y="1859121"/>
          <a:ext cx="6833754" cy="2194560"/>
        </p:xfrm>
        <a:graphic>
          <a:graphicData uri="http://schemas.openxmlformats.org/drawingml/2006/table">
            <a:tbl>
              <a:tblPr/>
              <a:tblGrid>
                <a:gridCol w="3416877">
                  <a:extLst>
                    <a:ext uri="{9D8B030D-6E8A-4147-A177-3AD203B41FA5}">
                      <a16:colId xmlns:a16="http://schemas.microsoft.com/office/drawing/2014/main" val="3844083237"/>
                    </a:ext>
                  </a:extLst>
                </a:gridCol>
                <a:gridCol w="3416877">
                  <a:extLst>
                    <a:ext uri="{9D8B030D-6E8A-4147-A177-3AD203B41FA5}">
                      <a16:colId xmlns:a16="http://schemas.microsoft.com/office/drawing/2014/main" val="3458605758"/>
                    </a:ext>
                  </a:extLst>
                </a:gridCol>
              </a:tblGrid>
              <a:tr h="353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8069486"/>
                  </a:ext>
                </a:extLst>
              </a:tr>
              <a:tr h="353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5678884"/>
                  </a:ext>
                </a:extLst>
              </a:tr>
              <a:tr h="353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9964538"/>
                  </a:ext>
                </a:extLst>
              </a:tr>
              <a:tr h="353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630344"/>
                  </a:ext>
                </a:extLst>
              </a:tr>
              <a:tr h="353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652698"/>
                  </a:ext>
                </a:extLst>
              </a:tr>
              <a:tr h="353891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472701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12292AA-2CE4-D812-1A2C-C7E3C905A2C4}"/>
              </a:ext>
            </a:extLst>
          </p:cNvPr>
          <p:cNvSpPr txBox="1"/>
          <p:nvPr/>
        </p:nvSpPr>
        <p:spPr>
          <a:xfrm>
            <a:off x="541349" y="3239202"/>
            <a:ext cx="66242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Business Model / Revenue Model</a:t>
            </a:r>
          </a:p>
          <a:p>
            <a:pPr>
              <a:buNone/>
            </a:pPr>
            <a:r>
              <a:rPr lang="en-IN" b="1" dirty="0"/>
              <a:t>💰 Freemium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Free Plan: Limited email rewrites per day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Premium Plan (₹199/month):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Unlimited rewrites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Advanced tone options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Email history saving</a:t>
            </a:r>
          </a:p>
          <a:p>
            <a:pPr>
              <a:buNone/>
            </a:pPr>
            <a:r>
              <a:rPr lang="en-IN" b="1" dirty="0"/>
              <a:t>🏢 Future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Enterprise plan for companies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Integration with Gmail &amp; corporate tools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B3D647A8-A998-BAC9-C26E-E412F7272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338293"/>
              </p:ext>
            </p:extLst>
          </p:nvPr>
        </p:nvGraphicFramePr>
        <p:xfrm>
          <a:off x="6695552" y="1752601"/>
          <a:ext cx="4084096" cy="3749040"/>
        </p:xfrm>
        <a:graphic>
          <a:graphicData uri="http://schemas.openxmlformats.org/drawingml/2006/table">
            <a:tbl>
              <a:tblPr/>
              <a:tblGrid>
                <a:gridCol w="2042048">
                  <a:extLst>
                    <a:ext uri="{9D8B030D-6E8A-4147-A177-3AD203B41FA5}">
                      <a16:colId xmlns:a16="http://schemas.microsoft.com/office/drawing/2014/main" val="3479831390"/>
                    </a:ext>
                  </a:extLst>
                </a:gridCol>
                <a:gridCol w="2042048">
                  <a:extLst>
                    <a:ext uri="{9D8B030D-6E8A-4147-A177-3AD203B41FA5}">
                      <a16:colId xmlns:a16="http://schemas.microsoft.com/office/drawing/2014/main" val="3907441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Challenge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dirty="0"/>
                    </a:p>
                    <a:p>
                      <a:pPr>
                        <a:buNone/>
                      </a:pPr>
                      <a:r>
                        <a:rPr lang="en-IN" dirty="0"/>
                        <a:t>Solution Strategy</a:t>
                      </a:r>
                    </a:p>
                    <a:p>
                      <a:pPr>
                        <a:buNone/>
                      </a:pP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062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API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Optimize response length &amp; 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0084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Data Privacy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Secure API &amp; encrypted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6389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Competition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Unique tone control &amp; clean UI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785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User Adoption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Simple interface &amp; free plan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4704085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A1B5D102-8908-25C4-0E99-0CDD5959D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0092" y="1597298"/>
            <a:ext cx="2565126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Challenges &amp; Risks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4D27EA-5CEA-3531-85EE-A251AB30D7A5}"/>
              </a:ext>
            </a:extLst>
          </p:cNvPr>
          <p:cNvSpPr txBox="1"/>
          <p:nvPr/>
        </p:nvSpPr>
        <p:spPr>
          <a:xfrm>
            <a:off x="595158" y="1362306"/>
            <a:ext cx="273893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Feasibility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existing AI APIs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hardware required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Web-based scalable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 infrastructure cost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390244" y="-201239"/>
            <a:ext cx="8403771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8387" y="73081"/>
            <a:ext cx="1804713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SYNAPTRIX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5FC60-C618-8BC0-AEF8-5F7D78264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002" y="-260931"/>
            <a:ext cx="2592198" cy="2013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66291-3BF8-CD14-0E93-816FC48127BD}"/>
              </a:ext>
            </a:extLst>
          </p:cNvPr>
          <p:cNvSpPr txBox="1"/>
          <p:nvPr/>
        </p:nvSpPr>
        <p:spPr>
          <a:xfrm>
            <a:off x="0" y="910261"/>
            <a:ext cx="747958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IMPACT &amp; BENEFITS</a:t>
            </a:r>
          </a:p>
          <a:p>
            <a:r>
              <a:rPr lang="en-US" b="1" dirty="0"/>
              <a:t>Target Audience Impact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Empowers students to communicate professionally with professors and recruiters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Helps working professionals maintain formal workplace communication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Assists startups and freelancers in client handling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Reduces hesitation and builds communication confidence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Saves time in daily email drafting tasks</a:t>
            </a:r>
          </a:p>
          <a:p>
            <a:pPr>
              <a:buNone/>
            </a:pPr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7BD74D-05F7-2D62-6B9B-9005AC5C5573}"/>
              </a:ext>
            </a:extLst>
          </p:cNvPr>
          <p:cNvSpPr txBox="1"/>
          <p:nvPr/>
        </p:nvSpPr>
        <p:spPr>
          <a:xfrm>
            <a:off x="-1773" y="3228976"/>
            <a:ext cx="60977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Social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Promotes respectful and structured digital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Reduces workplace conflicts caused by miscommunication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individuals with limited English proficiency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Encourages a culture of professionalism in digital platforms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2B0B67-FA46-8B4F-405B-4F2320AC07D8}"/>
              </a:ext>
            </a:extLst>
          </p:cNvPr>
          <p:cNvSpPr txBox="1"/>
          <p:nvPr/>
        </p:nvSpPr>
        <p:spPr>
          <a:xfrm>
            <a:off x="0" y="4721006"/>
            <a:ext cx="60977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Economic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Increases employee productivity by reducing drafting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Improves business reputation through better communication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Minimizes costly misunderstandings in corporate environments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growth of AI-based productivity ecosystem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197F7A-3707-37E7-EE39-501564C08E39}"/>
              </a:ext>
            </a:extLst>
          </p:cNvPr>
          <p:cNvSpPr txBox="1"/>
          <p:nvPr/>
        </p:nvSpPr>
        <p:spPr>
          <a:xfrm>
            <a:off x="7038467" y="1411715"/>
            <a:ext cx="5362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Government Mission Alignment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Aligns with </a:t>
            </a:r>
            <a:r>
              <a:rPr lang="en-US" b="1" dirty="0"/>
              <a:t>Digital India</a:t>
            </a:r>
            <a:r>
              <a:rPr lang="en-US" dirty="0"/>
              <a:t> by promoting smart digital solutions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Supports </a:t>
            </a:r>
            <a:r>
              <a:rPr lang="en-US" b="1" dirty="0"/>
              <a:t>Skill India</a:t>
            </a:r>
            <a:r>
              <a:rPr lang="en-US" dirty="0"/>
              <a:t> by improving professional communication skills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Encourages responsible use of Artificial Intelligence in daily tasks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B785A5-6929-06DA-D4B6-924F06E78D5C}"/>
              </a:ext>
            </a:extLst>
          </p:cNvPr>
          <p:cNvSpPr txBox="1"/>
          <p:nvPr/>
        </p:nvSpPr>
        <p:spPr>
          <a:xfrm>
            <a:off x="6829759" y="3800939"/>
            <a:ext cx="536224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Scalability &amp; Future Growth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Cloud-based infrastructure enables national and global expansion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Can integrate with Gmail, corporate tools, and learning platforms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Future expansion into multilingual AI communication assistant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8FE1D-68F1-029F-03B6-9964E5A8F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AF06CCD-ABD2-4911-22A6-3D1B78D67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>
            <a:extLst>
              <a:ext uri="{FF2B5EF4-FFF2-40B4-BE49-F238E27FC236}">
                <a16:creationId xmlns:a16="http://schemas.microsoft.com/office/drawing/2014/main" id="{6952CB52-5135-5B0C-993B-A8293CD5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47625"/>
            <a:ext cx="8403771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Team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430D2-E044-6AFD-329D-0965A2670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1B8D5987-C38C-C8B3-C816-879ECBC00F7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873100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SYNAPTRIX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7D1913-A61B-9146-D58D-140EC0868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5002" y="-260931"/>
            <a:ext cx="2592198" cy="201353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606A94E5-9192-4E2B-167E-61EAC17776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" name="AutoShape 4">
            <a:extLst>
              <a:ext uri="{FF2B5EF4-FFF2-40B4-BE49-F238E27FC236}">
                <a16:creationId xmlns:a16="http://schemas.microsoft.com/office/drawing/2014/main" id="{8D38DDC4-E583-BF57-C3E9-E4B1093A1C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F42215-95BD-2FD5-E448-9809DBECB622}"/>
              </a:ext>
            </a:extLst>
          </p:cNvPr>
          <p:cNvSpPr txBox="1"/>
          <p:nvPr/>
        </p:nvSpPr>
        <p:spPr>
          <a:xfrm>
            <a:off x="757082" y="1717966"/>
            <a:ext cx="78751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C9FBD77-73FF-D727-6EC4-1F0F45162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082" y="1716806"/>
            <a:ext cx="2027681" cy="1712194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E4F29A1-8DFD-952E-AD2A-080765423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255113"/>
              </p:ext>
            </p:extLst>
          </p:nvPr>
        </p:nvGraphicFramePr>
        <p:xfrm>
          <a:off x="757082" y="1716806"/>
          <a:ext cx="8116754" cy="17575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9189">
                  <a:extLst>
                    <a:ext uri="{9D8B030D-6E8A-4147-A177-3AD203B41FA5}">
                      <a16:colId xmlns:a16="http://schemas.microsoft.com/office/drawing/2014/main" val="1647075863"/>
                    </a:ext>
                  </a:extLst>
                </a:gridCol>
                <a:gridCol w="2029189">
                  <a:extLst>
                    <a:ext uri="{9D8B030D-6E8A-4147-A177-3AD203B41FA5}">
                      <a16:colId xmlns:a16="http://schemas.microsoft.com/office/drawing/2014/main" val="2630557056"/>
                    </a:ext>
                  </a:extLst>
                </a:gridCol>
                <a:gridCol w="2282242">
                  <a:extLst>
                    <a:ext uri="{9D8B030D-6E8A-4147-A177-3AD203B41FA5}">
                      <a16:colId xmlns:a16="http://schemas.microsoft.com/office/drawing/2014/main" val="3543497561"/>
                    </a:ext>
                  </a:extLst>
                </a:gridCol>
                <a:gridCol w="1776134">
                  <a:extLst>
                    <a:ext uri="{9D8B030D-6E8A-4147-A177-3AD203B41FA5}">
                      <a16:colId xmlns:a16="http://schemas.microsoft.com/office/drawing/2014/main" val="3808986776"/>
                    </a:ext>
                  </a:extLst>
                </a:gridCol>
              </a:tblGrid>
              <a:tr h="1757521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Name: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Reetika Choudhary</a:t>
                      </a:r>
                    </a:p>
                  </a:txBody>
                  <a:tcPr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 Course: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BCA(DATA SCIENCE)</a:t>
                      </a:r>
                      <a:endParaRPr lang="en-IN" dirty="0">
                        <a:solidFill>
                          <a:schemeClr val="tx1"/>
                        </a:solidFill>
                      </a:endParaRPr>
                    </a:p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Year: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    1</a:t>
                      </a:r>
                      <a:r>
                        <a:rPr lang="en-US" baseline="30000" dirty="0">
                          <a:solidFill>
                            <a:schemeClr val="tx1"/>
                          </a:solidFill>
                        </a:rPr>
                        <a:t>st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year</a:t>
                      </a:r>
                    </a:p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1565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5906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7626</TotalTime>
  <Words>570</Words>
  <Application>Microsoft Office PowerPoint</Application>
  <PresentationFormat>Widescreen</PresentationFormat>
  <Paragraphs>136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TALENTINE 2026</vt:lpstr>
      <vt:lpstr> IDEA TITLE</vt:lpstr>
      <vt:lpstr>TECHNICAL APPROACH</vt:lpstr>
      <vt:lpstr>FEASIBILITY AND VIABILITY</vt:lpstr>
      <vt:lpstr>IMPACT AND BENEFITS</vt:lpstr>
      <vt:lpstr>Team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reetika choudhary</cp:lastModifiedBy>
  <cp:revision>155</cp:revision>
  <dcterms:created xsi:type="dcterms:W3CDTF">2013-12-12T18:46:50Z</dcterms:created>
  <dcterms:modified xsi:type="dcterms:W3CDTF">2026-02-14T05:01:29Z</dcterms:modified>
  <cp:category/>
</cp:coreProperties>
</file>